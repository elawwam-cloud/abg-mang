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14"/>
    <p:sldId id="264" r:id="rId15"/>
    <p:sldId id="265" r:id="rId16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73152"/>
            <a:ext cx="2286000" cy="499719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731520"/>
            <a:ext cx="1371600" cy="1371600"/>
          </a:xfrm>
          <a:prstGeom prst="ellipse">
            <a:avLst/>
          </a:prstGeom>
          <a:solidFill>
            <a:srgbClr val="C9974C">
              <a:alpha val="15000"/>
            </a:srgbClr>
          </a:solidFill>
          <a:ln w="19050">
            <a:solidFill>
              <a:srgbClr val="C997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914400"/>
            <a:ext cx="1005840" cy="1005840"/>
          </a:xfrm>
          <a:prstGeom prst="ellipse">
            <a:avLst/>
          </a:prstGeom>
          <a:solidFill>
            <a:srgbClr val="C9974C">
              <a:alpha val="30000"/>
            </a:srgbClr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8229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97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ﷺ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أبجديات أونلاين  |  الدفعة التاسعة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دورة السيرة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C997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النبوية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السيرة مش تاريخ تحفظه … هي حياة تعيشها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6217920" cy="73152"/>
          </a:xfrm>
          <a:prstGeom prst="rect">
            <a:avLst/>
          </a:prstGeom>
          <a:solidFill>
            <a:srgbClr val="C9974C">
              <a:alpha val="40000"/>
            </a:srgbClr>
          </a:solidFill>
          <a:ln w="12700">
            <a:solidFill>
              <a:srgbClr val="C9974C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1148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 د. محمد الغليظ</a:t>
            </a:r>
            <a:pPr algn="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تبدأ 21 يونيو 2026</a:t>
            </a:r>
            <a:pPr algn="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r" indent="0" marL="0">
              <a:buNone/>
            </a:pPr>
            <a:r>
              <a:rPr lang="en-US" sz="1200" b="1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التسجيل يغلق 12 يونيو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🇪🇬  الأسعار — داخل مصر (بالجنيه)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21208" y="1435608"/>
            <a:ext cx="2560320" cy="256032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560320" cy="2560320"/>
          </a:xfrm>
          <a:prstGeom prst="rect">
            <a:avLst/>
          </a:prstGeom>
          <a:solidFill>
            <a:srgbClr val="8A7B6B"/>
          </a:solidFill>
          <a:ln w="12700">
            <a:solidFill>
              <a:srgbClr val="8A7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2560320" cy="54864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السعر الأساسي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148840"/>
            <a:ext cx="18288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86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750 جنيه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401568" y="1435608"/>
            <a:ext cx="2560320" cy="256032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560320" cy="2560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371600"/>
            <a:ext cx="2560320" cy="54864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600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العرض المبكر 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03320" y="2148840"/>
            <a:ext cx="18288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286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650 جنيه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3611880" y="3383280"/>
            <a:ext cx="2011680" cy="38404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3401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وفّرت 100 جنيه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81928" y="1435608"/>
            <a:ext cx="2560320" cy="256032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371600"/>
            <a:ext cx="2560320" cy="2560320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600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خريجي الأكاديمية 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0" y="2148840"/>
            <a:ext cx="18288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286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 جنيه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6492240" y="3383280"/>
            <a:ext cx="2011680" cy="38404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401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كود: Gradu  |  وفّرت 150 جنيه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التسجيل يغلق نهائيًا  12 يونيو 2026  —  الدراسة تبدأ  21 يونيو 2026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الأسعار — خارج مصر (بالدولار)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21208" y="1435608"/>
            <a:ext cx="2560320" cy="256032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560320" cy="2560320"/>
          </a:xfrm>
          <a:prstGeom prst="rect">
            <a:avLst/>
          </a:prstGeom>
          <a:solidFill>
            <a:srgbClr val="8A7B6B"/>
          </a:solidFill>
          <a:ln w="12700">
            <a:solidFill>
              <a:srgbClr val="8A7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2560320" cy="54864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السعر الأساسي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148840"/>
            <a:ext cx="18288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86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$55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401568" y="1435608"/>
            <a:ext cx="2560320" cy="256032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371600"/>
            <a:ext cx="2560320" cy="2560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371600"/>
            <a:ext cx="2560320" cy="54864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600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العرض المبكر 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03320" y="2148840"/>
            <a:ext cx="18288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286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611880" y="3383280"/>
            <a:ext cx="2011680" cy="38404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3401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وفّرت $5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81928" y="1435608"/>
            <a:ext cx="2560320" cy="256032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000000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371600"/>
            <a:ext cx="2560320" cy="2560320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600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خريجي الأكاديمية 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0" y="2148840"/>
            <a:ext cx="18288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2860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6492240" y="3383280"/>
            <a:ext cx="2011680" cy="38404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401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كود: Gradu  |  وفّرت $10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التسجيل يغلق نهائيًا  12 يونيو 2026  —  الدراسة تبدأ  21 يونيو 2026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👨‍👩‍👧‍👦  عروض الأسرة والصحاب — داخل مصر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C9974C">
              <a:alpha val="50000"/>
            </a:srgbClr>
          </a:solidFill>
          <a:ln w="12700">
            <a:solidFill>
              <a:srgbClr val="C9974C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عروض الأسرة  (أب، أم، أبناء، إخوة)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8412480" cy="566928"/>
          </a:xfrm>
          <a:prstGeom prst="rect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36192"/>
            <a:ext cx="45720" cy="566928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934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👫  فردان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60934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الأول 100%  +  الثاني 50%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15910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97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1,125 جنيه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8412480" cy="566928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94560"/>
            <a:ext cx="45720" cy="566928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677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👨‍👩‍👦  3 أفراد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2677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الثالث مجاني 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2494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97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1,313 جنيه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2852928"/>
            <a:ext cx="8412480" cy="566928"/>
          </a:xfrm>
          <a:prstGeom prst="rect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52928"/>
            <a:ext cx="45720" cy="566928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260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👨‍👩‍👧‍👦  4 أفراد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92608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الرابع مجاني 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9077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97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1,688 جنيه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8412480" cy="36576"/>
          </a:xfrm>
          <a:prstGeom prst="rect">
            <a:avLst/>
          </a:prstGeom>
          <a:solidFill>
            <a:srgbClr val="C9974C">
              <a:alpha val="50000"/>
            </a:srgbClr>
          </a:solidFill>
          <a:ln w="12700">
            <a:solidFill>
              <a:srgbClr val="C9974C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03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عروض الصحاب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187952"/>
            <a:ext cx="8412480" cy="365760"/>
          </a:xfrm>
          <a:prstGeom prst="rect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187952"/>
            <a:ext cx="4572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245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👫  2 صُحاب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4224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الأول 100%  +  الثاني 75%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4206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97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1,313 جنيه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626864"/>
            <a:ext cx="4572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663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3 صُحاب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0" y="4663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46451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97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1,688 جنيه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عروض الأسرة والصحاب — خارج مصر (دولار)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C9974C">
              <a:alpha val="50000"/>
            </a:srgbClr>
          </a:solidFill>
          <a:ln w="12700">
            <a:solidFill>
              <a:srgbClr val="C9974C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عروض الأسرة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8412480" cy="566928"/>
          </a:xfrm>
          <a:prstGeom prst="rect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36192"/>
            <a:ext cx="45720" cy="566928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934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👫  فردان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60934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الأول 100%  +  الثاني 50%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15910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97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8412480" cy="566928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94560"/>
            <a:ext cx="45720" cy="566928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677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👨‍👩‍👦  3 أفراد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2677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الثالث مجاني 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2494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97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$97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2852928"/>
            <a:ext cx="8412480" cy="566928"/>
          </a:xfrm>
          <a:prstGeom prst="rect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52928"/>
            <a:ext cx="45720" cy="566928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260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👨‍👩‍👧‍👦  4 أفراد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92608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الرابع مجاني 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9077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97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$125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8412480" cy="36576"/>
          </a:xfrm>
          <a:prstGeom prst="rect">
            <a:avLst/>
          </a:prstGeom>
          <a:solidFill>
            <a:srgbClr val="C9974C">
              <a:alpha val="50000"/>
            </a:srgbClr>
          </a:solidFill>
          <a:ln w="12700">
            <a:solidFill>
              <a:srgbClr val="C9974C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03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عروض الصحاب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187952"/>
            <a:ext cx="8412480" cy="365760"/>
          </a:xfrm>
          <a:prstGeom prst="rect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187952"/>
            <a:ext cx="4572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245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👫  2 صُحاب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4224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الأول 100%  +  الثاني 75%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4206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97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$97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626864"/>
            <a:ext cx="4572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663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3 صُحاب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0" y="4663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46451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97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$125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سياسة العروض والقواعد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12064" y="1243584"/>
            <a:ext cx="2560320" cy="2926080"/>
          </a:xfrm>
          <a:prstGeom prst="rect">
            <a:avLst/>
          </a:prstGeom>
          <a:solidFill>
            <a:srgbClr val="CCCCCC">
              <a:alpha val="30000"/>
            </a:srgbClr>
          </a:solidFill>
          <a:ln w="12700">
            <a:solidFill>
              <a:srgbClr val="CCCCC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25603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خريجو الأكاديمية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2020824"/>
            <a:ext cx="228600" cy="228600"/>
          </a:xfrm>
          <a:prstGeom prst="ellipse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65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أكمل مدرسة القلوب أو أي دورة سابقة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2679192"/>
            <a:ext cx="228600" cy="228600"/>
          </a:xfrm>
          <a:prstGeom prst="ellipse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2432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كود الخصم: Gradu عند الدفع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3337560"/>
            <a:ext cx="228600" cy="228600"/>
          </a:xfrm>
          <a:prstGeom prst="ellipse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8269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يُجمع مع أي عرض آخر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92424" y="1243584"/>
            <a:ext cx="2560320" cy="2926080"/>
          </a:xfrm>
          <a:prstGeom prst="rect">
            <a:avLst/>
          </a:prstGeom>
          <a:solidFill>
            <a:srgbClr val="CCCCCC">
              <a:alpha val="30000"/>
            </a:srgbClr>
          </a:solidFill>
          <a:ln w="12700">
            <a:solidFill>
              <a:srgbClr val="CCCCCC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18872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1188720"/>
            <a:ext cx="25603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عروض الأسرة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0" y="2020824"/>
            <a:ext cx="228600" cy="228600"/>
          </a:xfrm>
          <a:prstGeom prst="ellipse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965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نفس الأسرة فقط (أب، أم، أبناء، إخوة)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2679192"/>
            <a:ext cx="228600" cy="228600"/>
          </a:xfrm>
          <a:prstGeom prst="ellipse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62432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يجب التسجيل معًا في نفس الطلب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3337560"/>
            <a:ext cx="228600" cy="228600"/>
          </a:xfrm>
          <a:prstGeom prst="ellipse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328269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يُطبَّق على الأصدقاء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72784" y="1243584"/>
            <a:ext cx="2560320" cy="2926080"/>
          </a:xfrm>
          <a:prstGeom prst="rect">
            <a:avLst/>
          </a:prstGeom>
          <a:solidFill>
            <a:srgbClr val="CCCCCC">
              <a:alpha val="30000"/>
            </a:srgbClr>
          </a:solidFill>
          <a:ln w="12700">
            <a:solidFill>
              <a:srgbClr val="CCCCCC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18872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188720"/>
            <a:ext cx="25603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العرض المبكر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66760" y="2020824"/>
            <a:ext cx="228600" cy="228600"/>
          </a:xfrm>
          <a:prstGeom prst="ellipse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1965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متاح حتى 12 يونيو 2026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366760" y="2679192"/>
            <a:ext cx="228600" cy="228600"/>
          </a:xfrm>
          <a:prstGeom prst="ellipse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262432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يُعاد بعد انتهاء المدة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66760" y="3337560"/>
            <a:ext cx="228600" cy="228600"/>
          </a:xfrm>
          <a:prstGeom prst="ellipse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328269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السعر يرتفع للأساسي تلقائيًا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B4F72">
              <a:alpha val="10000"/>
            </a:srgbClr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453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أي استثناء → ارجع لمدير المشروع فورًا  |  لا تُعطِ خصومات خارج هذه القائمة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73152" cy="4997196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73152"/>
            <a:ext cx="73152" cy="4997196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0" y="457200"/>
            <a:ext cx="2286000" cy="2286000"/>
          </a:xfrm>
          <a:prstGeom prst="ellipse">
            <a:avLst/>
          </a:prstGeom>
          <a:solidFill>
            <a:srgbClr val="C9974C">
              <a:alpha val="8000"/>
            </a:srgbClr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49040" y="777240"/>
            <a:ext cx="1645920" cy="1645920"/>
          </a:xfrm>
          <a:prstGeom prst="ellipse">
            <a:avLst/>
          </a:prstGeom>
          <a:solidFill>
            <a:srgbClr val="C9974C">
              <a:alpha val="15000"/>
            </a:srgbClr>
          </a:solidFill>
          <a:ln w="9525">
            <a:solidFill>
              <a:srgbClr val="C997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4572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C997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ﷺ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التسجيل مفتوح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7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حتى  12 يونيو 2026  فقط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0" y="4023360"/>
            <a:ext cx="3657600" cy="36576"/>
          </a:xfrm>
          <a:prstGeom prst="rect">
            <a:avLst/>
          </a:prstGeom>
          <a:solidFill>
            <a:srgbClr val="C9974C">
              <a:alpha val="60000"/>
            </a:srgbClr>
          </a:solidFill>
          <a:ln w="12700">
            <a:solidFill>
              <a:srgbClr val="C9974C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الدراسة تبدأ  21 يونيو  2026   |   أبجديات أونلاين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Content Calendar — دورة السيرة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66344" y="1197864"/>
            <a:ext cx="1920240" cy="3200400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43000"/>
            <a:ext cx="1920240" cy="5943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16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تشويق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801368"/>
            <a:ext cx="1645920" cy="320040"/>
          </a:xfrm>
          <a:prstGeom prst="rect">
            <a:avLst/>
          </a:prstGeom>
          <a:solidFill>
            <a:srgbClr val="C9A227">
              <a:alpha val="12000"/>
            </a:srgbClr>
          </a:solidFill>
          <a:ln w="12700">
            <a:solidFill>
              <a:srgbClr val="C9A227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196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مايو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2231136"/>
            <a:ext cx="1700784" cy="512064"/>
          </a:xfrm>
          <a:prstGeom prst="rect">
            <a:avLst/>
          </a:prstGeom>
          <a:solidFill>
            <a:srgbClr val="C9A227">
              <a:alpha val="7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7685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ريلز عاطفي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" y="2871216"/>
            <a:ext cx="1700784" cy="512064"/>
          </a:xfrm>
          <a:prstGeom prst="rect">
            <a:avLst/>
          </a:prstGeom>
          <a:solidFill>
            <a:srgbClr val="C9A227">
              <a:alpha val="7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169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بوست سؤال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" y="3511296"/>
            <a:ext cx="1700784" cy="512064"/>
          </a:xfrm>
          <a:prstGeom prst="rect">
            <a:avLst/>
          </a:prstGeom>
          <a:solidFill>
            <a:srgbClr val="C9A227">
              <a:alpha val="7000"/>
            </a:srgbClr>
          </a:solidFill>
          <a:ln w="12700">
            <a:solidFill>
              <a:srgbClr val="C9A227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570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ستوري Poll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9464" y="1197864"/>
            <a:ext cx="1920240" cy="3200400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114300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1143000"/>
            <a:ext cx="192024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1216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إطلاق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651760" y="1801368"/>
            <a:ext cx="1645920" cy="320040"/>
          </a:xfrm>
          <a:prstGeom prst="rect">
            <a:avLst/>
          </a:prstGeom>
          <a:solidFill>
            <a:srgbClr val="1B4F72">
              <a:alpha val="12000"/>
            </a:srgbClr>
          </a:solidFill>
          <a:ln w="12700">
            <a:solidFill>
              <a:srgbClr val="1B4F72">
                <a:alpha val="1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18196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9–13 مايو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24328" y="2231136"/>
            <a:ext cx="1700784" cy="512064"/>
          </a:xfrm>
          <a:prstGeom prst="rect">
            <a:avLst/>
          </a:prstGeom>
          <a:solidFill>
            <a:srgbClr val="1B4F72">
              <a:alpha val="7000"/>
            </a:srgbClr>
          </a:solidFill>
          <a:ln w="12700">
            <a:solidFill>
              <a:srgbClr val="1B4F72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227685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إعلان الدورة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24328" y="2871216"/>
            <a:ext cx="1700784" cy="512064"/>
          </a:xfrm>
          <a:prstGeom prst="rect">
            <a:avLst/>
          </a:prstGeom>
          <a:solidFill>
            <a:srgbClr val="1B4F72">
              <a:alpha val="7000"/>
            </a:srgbClr>
          </a:solidFill>
          <a:ln w="12700">
            <a:solidFill>
              <a:srgbClr val="1B4F72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9169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ريلز المحاضر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24328" y="3511296"/>
            <a:ext cx="1700784" cy="512064"/>
          </a:xfrm>
          <a:prstGeom prst="rect">
            <a:avLst/>
          </a:prstGeom>
          <a:solidFill>
            <a:srgbClr val="1B4F72">
              <a:alpha val="7000"/>
            </a:srgbClr>
          </a:solidFill>
          <a:ln w="12700">
            <a:solidFill>
              <a:srgbClr val="1B4F72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35570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تفاصيل كاملة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72584" y="1197864"/>
            <a:ext cx="1920240" cy="3200400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114300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1143000"/>
            <a:ext cx="1920240" cy="5943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1216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بيع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754880" y="1801368"/>
            <a:ext cx="1645920" cy="320040"/>
          </a:xfrm>
          <a:prstGeom prst="rect">
            <a:avLst/>
          </a:prstGeom>
          <a:solidFill>
            <a:srgbClr val="1A6B3C">
              <a:alpha val="12000"/>
            </a:srgbClr>
          </a:solidFill>
          <a:ln w="12700">
            <a:solidFill>
              <a:srgbClr val="1A6B3C">
                <a:alpha val="1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8196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مايو–8 يونيو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27448" y="2231136"/>
            <a:ext cx="1700784" cy="512064"/>
          </a:xfrm>
          <a:prstGeom prst="rect">
            <a:avLst/>
          </a:prstGeom>
          <a:solidFill>
            <a:srgbClr val="1A6B3C">
              <a:alpha val="7000"/>
            </a:srgbClr>
          </a:solidFill>
          <a:ln w="12700">
            <a:solidFill>
              <a:srgbClr val="1A6B3C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27685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شهادات طلاب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27448" y="2871216"/>
            <a:ext cx="1700784" cy="512064"/>
          </a:xfrm>
          <a:prstGeom prst="rect">
            <a:avLst/>
          </a:prstGeom>
          <a:solidFill>
            <a:srgbClr val="1A6B3C">
              <a:alpha val="7000"/>
            </a:srgbClr>
          </a:solidFill>
          <a:ln w="12700">
            <a:solidFill>
              <a:srgbClr val="1A6B3C">
                <a:alpha val="2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9169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ريلز تفاعلي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27448" y="3511296"/>
            <a:ext cx="1700784" cy="512064"/>
          </a:xfrm>
          <a:prstGeom prst="rect">
            <a:avLst/>
          </a:prstGeom>
          <a:solidFill>
            <a:srgbClr val="1A6B3C">
              <a:alpha val="7000"/>
            </a:srgbClr>
          </a:solidFill>
          <a:ln w="12700">
            <a:solidFill>
              <a:srgbClr val="1A6B3C">
                <a:alpha val="2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5570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عروض الأسرة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775704" y="1197864"/>
            <a:ext cx="1920240" cy="3200400"/>
          </a:xfrm>
          <a:prstGeom prst="rect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000000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20840" y="114300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20840" y="1143000"/>
            <a:ext cx="1920240" cy="5943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12280" y="1216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قفل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858000" y="1801368"/>
            <a:ext cx="1645920" cy="320040"/>
          </a:xfrm>
          <a:prstGeom prst="rect">
            <a:avLst/>
          </a:prstGeom>
          <a:solidFill>
            <a:srgbClr val="8B1A1A">
              <a:alpha val="12000"/>
            </a:srgbClr>
          </a:solidFill>
          <a:ln w="12700">
            <a:solidFill>
              <a:srgbClr val="8B1A1A">
                <a:alpha val="12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0" y="18196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9–12 يونيو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30568" y="2231136"/>
            <a:ext cx="1700784" cy="512064"/>
          </a:xfrm>
          <a:prstGeom prst="rect">
            <a:avLst/>
          </a:prstGeom>
          <a:solidFill>
            <a:srgbClr val="8B1A1A">
              <a:alpha val="7000"/>
            </a:srgbClr>
          </a:solidFill>
          <a:ln w="12700">
            <a:solidFill>
              <a:srgbClr val="8B1A1A">
                <a:alpha val="2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0" y="227685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FOMO ريلز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830568" y="2871216"/>
            <a:ext cx="1700784" cy="512064"/>
          </a:xfrm>
          <a:prstGeom prst="rect">
            <a:avLst/>
          </a:prstGeom>
          <a:solidFill>
            <a:srgbClr val="8B1A1A">
              <a:alpha val="7000"/>
            </a:srgbClr>
          </a:solidFill>
          <a:ln w="12700">
            <a:solidFill>
              <a:srgbClr val="8B1A1A">
                <a:alpha val="2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0" y="29169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عداد تنازلي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830568" y="3511296"/>
            <a:ext cx="1700784" cy="512064"/>
          </a:xfrm>
          <a:prstGeom prst="rect">
            <a:avLst/>
          </a:prstGeom>
          <a:solidFill>
            <a:srgbClr val="8B1A1A">
              <a:alpha val="7000"/>
            </a:srgbClr>
          </a:solidFill>
          <a:ln w="12700">
            <a:solidFill>
              <a:srgbClr val="8B1A1A">
                <a:alpha val="2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0" y="35570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آخر فرصة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11480" y="4434840"/>
            <a:ext cx="1325880" cy="38404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48970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ريلز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801368" y="4434840"/>
            <a:ext cx="1325880" cy="384048"/>
          </a:xfrm>
          <a:prstGeom prst="rect">
            <a:avLst/>
          </a:prstGeom>
          <a:solidFill>
            <a:srgbClr val="4B8BFF"/>
          </a:solidFill>
          <a:ln w="12700">
            <a:solidFill>
              <a:srgbClr val="4B8B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01368" y="448970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بوست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191256" y="4434840"/>
            <a:ext cx="1325880" cy="38404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91256" y="448970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ستوري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81144" y="4434840"/>
            <a:ext cx="1325880" cy="3840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81144" y="448970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كاروسيل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971032" y="4434840"/>
            <a:ext cx="1325880" cy="3840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71032" y="448970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لايف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360920" y="4434840"/>
            <a:ext cx="1325880" cy="38404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60920" y="448970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متابعة الأداء — KPIs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36576"/>
          </a:xfrm>
          <a:prstGeom prst="rect">
            <a:avLst/>
          </a:prstGeom>
          <a:solidFill>
            <a:srgbClr val="C9974C">
              <a:alpha val="50000"/>
            </a:srgbClr>
          </a:solidFill>
          <a:ln w="12700">
            <a:solidFill>
              <a:srgbClr val="C9974C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2011680"/>
          </a:xfrm>
          <a:prstGeom prst="rect">
            <a:avLst/>
          </a:prstGeom>
          <a:solidFill>
            <a:srgbClr val="1B2A3A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02336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07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مؤشرات المحتوى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المؤشر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0" y="15087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الهدف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66160" y="15087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خطر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773936"/>
            <a:ext cx="4023360" cy="329184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10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ريلز متوسط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18105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18105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أقل من 3K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121408"/>
            <a:ext cx="4023360" cy="329184"/>
          </a:xfrm>
          <a:prstGeom prst="rect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57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بوست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21579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1579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أقل من 1K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468880"/>
            <a:ext cx="4023360" cy="329184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05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معدل التفاعل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25054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66160" y="25054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أقل من 2%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0" y="1005840"/>
            <a:ext cx="4023360" cy="2011680"/>
          </a:xfrm>
          <a:prstGeom prst="rect">
            <a:avLst/>
          </a:prstGeom>
          <a:solidFill>
            <a:srgbClr val="1B2A3A"/>
          </a:solidFill>
          <a:ln w="12700">
            <a:solidFill>
              <a:srgbClr val="25A2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1005840"/>
            <a:ext cx="4023360" cy="457200"/>
          </a:xfrm>
          <a:prstGeom prst="rect">
            <a:avLst/>
          </a:prstGeom>
          <a:solidFill>
            <a:srgbClr val="25A244"/>
          </a:solidFill>
          <a:ln w="12700">
            <a:solidFill>
              <a:srgbClr val="25A2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0607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مؤشرات الواتساب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63440" y="1508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المؤشر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49440" y="15087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الهدف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15087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خطر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1773936"/>
            <a:ext cx="4023360" cy="329184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810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فتح الرسائل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0" y="18105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75%+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0" y="18105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أقل من 50%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121408"/>
            <a:ext cx="4023360" cy="329184"/>
          </a:xfrm>
          <a:prstGeom prst="rect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157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نسبة الرد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49440" y="21579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15%+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21579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أقل من 5%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0" y="2468880"/>
            <a:ext cx="4023360" cy="329184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505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يومياً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25054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0" y="25054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أقل من 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" y="3200400"/>
            <a:ext cx="4023360" cy="2011680"/>
          </a:xfrm>
          <a:prstGeom prst="rect">
            <a:avLst/>
          </a:prstGeom>
          <a:solidFill>
            <a:srgbClr val="1B2A3A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200400"/>
            <a:ext cx="4023360" cy="457200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2552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مؤشرات المبيعات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3703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المؤشر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0" y="3703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الهدف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566160" y="3703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خطر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3968496"/>
            <a:ext cx="4023360" cy="329184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005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تحويل DM→تسجيل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43200" y="40050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15-25%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566160" y="40050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أقل من 5%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65760" y="4315968"/>
            <a:ext cx="4023360" cy="329184"/>
          </a:xfrm>
          <a:prstGeom prst="rect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3525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خريجو القلوب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743200" y="43525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45%+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566160" y="43525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أقل من 25%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65760" y="4663440"/>
            <a:ext cx="4023360" cy="329184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700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مسجلون يومياً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743200" y="47000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[X/يوم]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566160" y="47000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صفر → طوارئ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572000" y="3200400"/>
            <a:ext cx="4023360" cy="2011680"/>
          </a:xfrm>
          <a:prstGeom prst="rect">
            <a:avLst/>
          </a:prstGeom>
          <a:solidFill>
            <a:srgbClr val="1B2A3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72000" y="3200400"/>
            <a:ext cx="40233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63440" y="32552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مؤشرات الإعلانات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4663440" y="3703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المؤشر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949440" y="3703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الهدف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772400" y="3703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خطر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572000" y="3968496"/>
            <a:ext cx="4023360" cy="329184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63440" y="4005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949440" y="40050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2%+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772400" y="40050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أقل من 1%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572000" y="4315968"/>
            <a:ext cx="4023360" cy="329184"/>
          </a:xfrm>
          <a:prstGeom prst="rect">
            <a:avLst/>
          </a:prstGeom>
          <a:solidFill>
            <a:srgbClr val="1B2A3A"/>
          </a:solidFill>
          <a:ln w="12700">
            <a:solidFill>
              <a:srgbClr val="1B2A3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63440" y="43525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949440" y="43525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772400" y="43525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أقل من 1.5x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572000" y="4663440"/>
            <a:ext cx="4023360" cy="329184"/>
          </a:xfrm>
          <a:prstGeom prst="rect">
            <a:avLst/>
          </a:prstGeom>
          <a:solidFill>
            <a:srgbClr val="162233"/>
          </a:solidFill>
          <a:ln w="12700">
            <a:solidFill>
              <a:srgbClr val="1622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63440" y="4700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949440" y="47000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772400" y="47000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تجاوزه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تقييم الخطة + التطويرات الاحترافية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3931920" cy="5029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نقاط القوة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50208" y="1783080"/>
            <a:ext cx="201168" cy="20116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73736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الربط الاستراتيجي: مدرسة القلوب → دورة السيرة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50208" y="2304288"/>
            <a:ext cx="201168" cy="20116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25856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 واضح وقابل للتنفيذ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50208" y="2825496"/>
            <a:ext cx="201168" cy="20116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77977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كامل مبني في Notion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50208" y="3346704"/>
            <a:ext cx="201168" cy="20116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30098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سكريبتات ريلز قوية ومتنوعة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50208" y="3867912"/>
            <a:ext cx="201168" cy="20116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8221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توقيت ذكي — بعد إغلاق مدرسة القلوب مباشرة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114300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0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143000"/>
            <a:ext cx="3931920" cy="5029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الثغرات والتطويرات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19472" y="1719072"/>
            <a:ext cx="3785616" cy="484632"/>
          </a:xfrm>
          <a:prstGeom prst="rect">
            <a:avLst/>
          </a:prstGeom>
          <a:solidFill>
            <a:srgbClr val="FFF5F5"/>
          </a:solidFill>
          <a:ln w="6350">
            <a:solidFill>
              <a:srgbClr val="E8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737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 خطة إعلانات: Retargeting 40% + Lookalike 35%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83480" y="1965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يوجد Paid Media Strategy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19472" y="2244852"/>
            <a:ext cx="3785616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2631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 كود خاص لكل طالب + خصم 5% للمحال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83480" y="24917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يوجد Referral System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19472" y="2770632"/>
            <a:ext cx="3785616" cy="484632"/>
          </a:xfrm>
          <a:prstGeom prst="rect">
            <a:avLst/>
          </a:prstGeom>
          <a:solidFill>
            <a:srgbClr val="FFF5F5"/>
          </a:solidFill>
          <a:ln w="6350">
            <a:solidFill>
              <a:srgbClr val="E8D0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788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 صفحة Waitlist قبل 10 أيام من الإطلاق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83480" y="3017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غياب Pre-launch Waitlist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19472" y="3296412"/>
            <a:ext cx="3785616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0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3147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 نفس الريلز × 4 منصات = 4× الـ Reach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83480" y="35433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TikTok/YouTube Shorts مغيّبة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19472" y="3822192"/>
            <a:ext cx="3785616" cy="484632"/>
          </a:xfrm>
          <a:prstGeom prst="rect">
            <a:avLst/>
          </a:prstGeom>
          <a:solidFill>
            <a:srgbClr val="FFF5F5"/>
          </a:solidFill>
          <a:ln w="6350">
            <a:solidFill>
              <a:srgbClr val="E8D0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8404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 5 رسائل بريد من يوم 0 حتى إغلاق الباب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83480" y="4069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يوجد Email Sequence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498848"/>
            <a:ext cx="84124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98848"/>
            <a:ext cx="45720" cy="457200"/>
          </a:xfrm>
          <a:prstGeom prst="rect">
            <a:avLst/>
          </a:prstGeom>
          <a:solidFill>
            <a:srgbClr val="C9974C"/>
          </a:solidFill>
          <a:ln w="12700">
            <a:solidFill>
              <a:srgbClr val="C997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5262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تطبيق التطويرات يرفع الـ Reach 3-4× مع نفس الميزانية — ابدأ بـ Waitlist + Referral + Paid في الأسبوع الأول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دورة السيرة النبوية — أبجديات أونلاين</dc:title>
  <dc:subject>PptxGenJS Presentation</dc:subject>
  <dc:creator>PptxGenJS</dc:creator>
  <cp:lastModifiedBy>PptxGenJS</cp:lastModifiedBy>
  <cp:revision>1</cp:revision>
  <dcterms:created xsi:type="dcterms:W3CDTF">2026-05-04T08:40:04Z</dcterms:created>
  <dcterms:modified xsi:type="dcterms:W3CDTF">2026-05-04T08:40:04Z</dcterms:modified>
</cp:coreProperties>
</file>